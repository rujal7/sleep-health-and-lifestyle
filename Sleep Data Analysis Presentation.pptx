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280160"/>
            <a:ext cx="10972800" cy="1280160"/>
          </a:xfrm>
          <a:prstGeom prst="rect">
            <a:avLst/>
          </a:prstGeom>
          <a:noFill/>
        </p:spPr>
        <p:txBody>
          <a:bodyPr wrap="square">
            <a:spAutoFit/>
          </a:bodyPr>
          <a:lstStyle/>
          <a:p>
            <a:pPr>
              <a:defRPr sz="3400" b="1">
                <a:solidFill>
                  <a:srgbClr val="FFFFFF"/>
                </a:solidFill>
              </a:defRPr>
            </a:pPr>
            <a:r>
              <a:t>Sleep Health and Lifestyle</a:t>
            </a:r>
          </a:p>
          <a:p>
            <a:pPr>
              <a:defRPr sz="3400" b="1">
                <a:solidFill>
                  <a:srgbClr val="FFFFFF"/>
                </a:solidFill>
              </a:defRPr>
            </a:pPr>
            <a:r>
              <a:t>Dataset Analysis</a:t>
            </a:r>
          </a:p>
        </p:txBody>
      </p:sp>
      <p:sp>
        <p:nvSpPr>
          <p:cNvPr id="5" name="TextBox 4"/>
          <p:cNvSpPr txBox="1"/>
          <p:nvPr/>
        </p:nvSpPr>
        <p:spPr>
          <a:xfrm>
            <a:off x="685799" y="5257800"/>
            <a:ext cx="6285451" cy="323165"/>
          </a:xfrm>
          <a:prstGeom prst="rect">
            <a:avLst/>
          </a:prstGeom>
          <a:noFill/>
        </p:spPr>
        <p:txBody>
          <a:bodyPr wrap="square">
            <a:spAutoFit/>
          </a:bodyPr>
          <a:lstStyle/>
          <a:p>
            <a:pPr>
              <a:defRPr sz="1500" b="0">
                <a:solidFill>
                  <a:srgbClr val="EBF5FF"/>
                </a:solidFill>
              </a:defRPr>
            </a:pPr>
            <a:r>
              <a:rPr b="1" dirty="0"/>
              <a:t>Prepared by:</a:t>
            </a:r>
            <a:r>
              <a:rPr dirty="0"/>
              <a:t> P</a:t>
            </a:r>
            <a:r>
              <a:rPr lang="en-IN" dirty="0" err="1"/>
              <a:t>arthiv</a:t>
            </a:r>
            <a:r>
              <a:rPr lang="en-IN" dirty="0"/>
              <a:t> Thakur</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Project Overview</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2</a:t>
            </a:r>
          </a:p>
        </p:txBody>
      </p:sp>
      <p:sp>
        <p:nvSpPr>
          <p:cNvPr id="5" name="TextBox 4"/>
          <p:cNvSpPr txBox="1"/>
          <p:nvPr/>
        </p:nvSpPr>
        <p:spPr>
          <a:xfrm>
            <a:off x="685800" y="1051560"/>
            <a:ext cx="10972800" cy="4114800"/>
          </a:xfrm>
          <a:prstGeom prst="rect">
            <a:avLst/>
          </a:prstGeom>
          <a:noFill/>
        </p:spPr>
        <p:txBody>
          <a:bodyPr wrap="square">
            <a:spAutoFit/>
          </a:bodyPr>
          <a:lstStyle/>
          <a:p>
            <a:pPr>
              <a:defRPr sz="1800">
                <a:solidFill>
                  <a:srgbClr val="232323"/>
                </a:solidFill>
              </a:defRPr>
            </a:pPr>
            <a:r>
              <a:t>Goal: Analyze sleep health and lifestyle factors using the given dataset.</a:t>
            </a:r>
          </a:p>
          <a:p>
            <a:pPr>
              <a:defRPr sz="1800">
                <a:solidFill>
                  <a:srgbClr val="232323"/>
                </a:solidFill>
              </a:defRPr>
            </a:pPr>
            <a:r>
              <a:t>Dataset contains personal, health, lifestyle, and sleep disorder attributes.</a:t>
            </a:r>
          </a:p>
          <a:p>
            <a:pPr>
              <a:defRPr sz="1800">
                <a:solidFill>
                  <a:srgbClr val="232323"/>
                </a:solidFill>
              </a:defRPr>
            </a:pPr>
            <a:r>
              <a:t>Graphs are taken directly from the original Project.ipynb notebook outputs.</a:t>
            </a:r>
          </a:p>
          <a:p>
            <a:pPr>
              <a:defRPr sz="1800">
                <a:solidFill>
                  <a:srgbClr val="232323"/>
                </a:solidFill>
              </a:defRPr>
            </a:pPr>
            <a:r>
              <a:t>Analysis focuses on sleep duration, quality of sleep, stress level, BMI, occupation, gender, blood pressure, heart rate, and daily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Dataset Summary</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3</a:t>
            </a:r>
          </a:p>
        </p:txBody>
      </p:sp>
      <p:sp>
        <p:nvSpPr>
          <p:cNvPr id="5" name="Rounded Rectangle 4"/>
          <p:cNvSpPr/>
          <p:nvPr/>
        </p:nvSpPr>
        <p:spPr>
          <a:xfrm>
            <a:off x="685800" y="1051560"/>
            <a:ext cx="2423160" cy="100584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197863"/>
            <a:ext cx="2203704" cy="777240"/>
          </a:xfrm>
          <a:prstGeom prst="rect">
            <a:avLst/>
          </a:prstGeom>
          <a:noFill/>
        </p:spPr>
        <p:txBody>
          <a:bodyPr wrap="none">
            <a:spAutoFit/>
          </a:bodyPr>
          <a:lstStyle/>
          <a:p>
            <a:pPr algn="ctr">
              <a:defRPr sz="2000" b="1">
                <a:solidFill>
                  <a:srgbClr val="1F4E79"/>
                </a:solidFill>
              </a:defRPr>
            </a:pPr>
            <a:r>
              <a:t>374</a:t>
            </a:r>
          </a:p>
          <a:p>
            <a:pPr algn="ctr">
              <a:defRPr sz="900">
                <a:solidFill>
                  <a:srgbClr val="505050"/>
                </a:solidFill>
              </a:defRPr>
            </a:pPr>
            <a:r>
              <a:t>Records</a:t>
            </a:r>
          </a:p>
        </p:txBody>
      </p:sp>
      <p:sp>
        <p:nvSpPr>
          <p:cNvPr id="7" name="Rounded Rectangle 6"/>
          <p:cNvSpPr/>
          <p:nvPr/>
        </p:nvSpPr>
        <p:spPr>
          <a:xfrm>
            <a:off x="3474720" y="1051560"/>
            <a:ext cx="2423160" cy="100584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84448" y="1197863"/>
            <a:ext cx="2203704" cy="777240"/>
          </a:xfrm>
          <a:prstGeom prst="rect">
            <a:avLst/>
          </a:prstGeom>
          <a:noFill/>
        </p:spPr>
        <p:txBody>
          <a:bodyPr wrap="none">
            <a:spAutoFit/>
          </a:bodyPr>
          <a:lstStyle/>
          <a:p>
            <a:pPr algn="ctr">
              <a:defRPr sz="2000" b="1">
                <a:solidFill>
                  <a:srgbClr val="1F4E79"/>
                </a:solidFill>
              </a:defRPr>
            </a:pPr>
            <a:r>
              <a:t>13</a:t>
            </a:r>
          </a:p>
          <a:p>
            <a:pPr algn="ctr">
              <a:defRPr sz="900">
                <a:solidFill>
                  <a:srgbClr val="505050"/>
                </a:solidFill>
              </a:defRPr>
            </a:pPr>
            <a:r>
              <a:t>Columns</a:t>
            </a:r>
          </a:p>
        </p:txBody>
      </p:sp>
      <p:sp>
        <p:nvSpPr>
          <p:cNvPr id="9" name="Rounded Rectangle 8"/>
          <p:cNvSpPr/>
          <p:nvPr/>
        </p:nvSpPr>
        <p:spPr>
          <a:xfrm>
            <a:off x="6263640" y="1051560"/>
            <a:ext cx="2423160" cy="100584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197863"/>
            <a:ext cx="2203704" cy="777240"/>
          </a:xfrm>
          <a:prstGeom prst="rect">
            <a:avLst/>
          </a:prstGeom>
          <a:noFill/>
        </p:spPr>
        <p:txBody>
          <a:bodyPr wrap="none">
            <a:spAutoFit/>
          </a:bodyPr>
          <a:lstStyle/>
          <a:p>
            <a:pPr algn="ctr">
              <a:defRPr sz="2000" b="1">
                <a:solidFill>
                  <a:srgbClr val="1F4E79"/>
                </a:solidFill>
              </a:defRPr>
            </a:pPr>
            <a:r>
              <a:t>42.2</a:t>
            </a:r>
          </a:p>
          <a:p>
            <a:pPr algn="ctr">
              <a:defRPr sz="900">
                <a:solidFill>
                  <a:srgbClr val="505050"/>
                </a:solidFill>
              </a:defRPr>
            </a:pPr>
            <a:r>
              <a:t>Avg Age</a:t>
            </a:r>
          </a:p>
        </p:txBody>
      </p:sp>
      <p:sp>
        <p:nvSpPr>
          <p:cNvPr id="11" name="Rounded Rectangle 10"/>
          <p:cNvSpPr/>
          <p:nvPr/>
        </p:nvSpPr>
        <p:spPr>
          <a:xfrm>
            <a:off x="9052559" y="1051560"/>
            <a:ext cx="2423160" cy="100584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62287" y="1197863"/>
            <a:ext cx="2203704" cy="777240"/>
          </a:xfrm>
          <a:prstGeom prst="rect">
            <a:avLst/>
          </a:prstGeom>
          <a:noFill/>
        </p:spPr>
        <p:txBody>
          <a:bodyPr wrap="none">
            <a:spAutoFit/>
          </a:bodyPr>
          <a:lstStyle/>
          <a:p>
            <a:pPr algn="ctr">
              <a:defRPr sz="2000" b="1">
                <a:solidFill>
                  <a:srgbClr val="1F4E79"/>
                </a:solidFill>
              </a:defRPr>
            </a:pPr>
            <a:r>
              <a:t>7.13 h</a:t>
            </a:r>
          </a:p>
          <a:p>
            <a:pPr algn="ctr">
              <a:defRPr sz="900">
                <a:solidFill>
                  <a:srgbClr val="505050"/>
                </a:solidFill>
              </a:defRPr>
            </a:pPr>
            <a:r>
              <a:t>Avg Sleep Duration</a:t>
            </a:r>
          </a:p>
        </p:txBody>
      </p:sp>
      <p:sp>
        <p:nvSpPr>
          <p:cNvPr id="13" name="Rounded Rectangle 12"/>
          <p:cNvSpPr/>
          <p:nvPr/>
        </p:nvSpPr>
        <p:spPr>
          <a:xfrm>
            <a:off x="685800" y="2377439"/>
            <a:ext cx="2423160" cy="100584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8" y="2523744"/>
            <a:ext cx="2203704" cy="777240"/>
          </a:xfrm>
          <a:prstGeom prst="rect">
            <a:avLst/>
          </a:prstGeom>
          <a:noFill/>
        </p:spPr>
        <p:txBody>
          <a:bodyPr wrap="none">
            <a:spAutoFit/>
          </a:bodyPr>
          <a:lstStyle/>
          <a:p>
            <a:pPr algn="ctr">
              <a:defRPr sz="2000" b="1">
                <a:solidFill>
                  <a:srgbClr val="1F4E79"/>
                </a:solidFill>
              </a:defRPr>
            </a:pPr>
            <a:r>
              <a:t>7.31/10</a:t>
            </a:r>
          </a:p>
          <a:p>
            <a:pPr algn="ctr">
              <a:defRPr sz="900">
                <a:solidFill>
                  <a:srgbClr val="505050"/>
                </a:solidFill>
              </a:defRPr>
            </a:pPr>
            <a:r>
              <a:t>Avg Quality</a:t>
            </a:r>
          </a:p>
        </p:txBody>
      </p:sp>
      <p:sp>
        <p:nvSpPr>
          <p:cNvPr id="15" name="Rounded Rectangle 14"/>
          <p:cNvSpPr/>
          <p:nvPr/>
        </p:nvSpPr>
        <p:spPr>
          <a:xfrm>
            <a:off x="3474720" y="2377439"/>
            <a:ext cx="2423160" cy="100584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84448" y="2523744"/>
            <a:ext cx="2203704" cy="777240"/>
          </a:xfrm>
          <a:prstGeom prst="rect">
            <a:avLst/>
          </a:prstGeom>
          <a:noFill/>
        </p:spPr>
        <p:txBody>
          <a:bodyPr wrap="none">
            <a:spAutoFit/>
          </a:bodyPr>
          <a:lstStyle/>
          <a:p>
            <a:pPr algn="ctr">
              <a:defRPr sz="2000" b="1">
                <a:solidFill>
                  <a:srgbClr val="1F4E79"/>
                </a:solidFill>
              </a:defRPr>
            </a:pPr>
            <a:r>
              <a:t>5.39/10</a:t>
            </a:r>
          </a:p>
          <a:p>
            <a:pPr algn="ctr">
              <a:defRPr sz="900">
                <a:solidFill>
                  <a:srgbClr val="505050"/>
                </a:solidFill>
              </a:defRPr>
            </a:pPr>
            <a:r>
              <a:t>Avg Stress</a:t>
            </a:r>
          </a:p>
        </p:txBody>
      </p:sp>
      <p:sp>
        <p:nvSpPr>
          <p:cNvPr id="17" name="Rounded Rectangle 16"/>
          <p:cNvSpPr/>
          <p:nvPr/>
        </p:nvSpPr>
        <p:spPr>
          <a:xfrm>
            <a:off x="6263640" y="2377439"/>
            <a:ext cx="2423160" cy="100584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73368" y="2523744"/>
            <a:ext cx="2203704" cy="777240"/>
          </a:xfrm>
          <a:prstGeom prst="rect">
            <a:avLst/>
          </a:prstGeom>
          <a:noFill/>
        </p:spPr>
        <p:txBody>
          <a:bodyPr wrap="none">
            <a:spAutoFit/>
          </a:bodyPr>
          <a:lstStyle/>
          <a:p>
            <a:pPr algn="ctr">
              <a:defRPr sz="2000" b="1">
                <a:solidFill>
                  <a:srgbClr val="1F4E79"/>
                </a:solidFill>
              </a:defRPr>
            </a:pPr>
            <a:r>
              <a:t>77</a:t>
            </a:r>
          </a:p>
          <a:p>
            <a:pPr algn="ctr">
              <a:defRPr sz="900">
                <a:solidFill>
                  <a:srgbClr val="505050"/>
                </a:solidFill>
              </a:defRPr>
            </a:pPr>
            <a:r>
              <a:t>Insomnia</a:t>
            </a:r>
          </a:p>
        </p:txBody>
      </p:sp>
      <p:sp>
        <p:nvSpPr>
          <p:cNvPr id="19" name="Rounded Rectangle 18"/>
          <p:cNvSpPr/>
          <p:nvPr/>
        </p:nvSpPr>
        <p:spPr>
          <a:xfrm>
            <a:off x="9052559" y="2377439"/>
            <a:ext cx="2423160" cy="100584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62287" y="2523744"/>
            <a:ext cx="2203704" cy="777240"/>
          </a:xfrm>
          <a:prstGeom prst="rect">
            <a:avLst/>
          </a:prstGeom>
          <a:noFill/>
        </p:spPr>
        <p:txBody>
          <a:bodyPr wrap="none">
            <a:spAutoFit/>
          </a:bodyPr>
          <a:lstStyle/>
          <a:p>
            <a:pPr algn="ctr">
              <a:defRPr sz="2000" b="1">
                <a:solidFill>
                  <a:srgbClr val="1F4E79"/>
                </a:solidFill>
              </a:defRPr>
            </a:pPr>
            <a:r>
              <a:t>78</a:t>
            </a:r>
          </a:p>
          <a:p>
            <a:pPr algn="ctr">
              <a:defRPr sz="900">
                <a:solidFill>
                  <a:srgbClr val="505050"/>
                </a:solidFill>
              </a:defRPr>
            </a:pPr>
            <a:r>
              <a:t>Sleep Apnea</a:t>
            </a:r>
          </a:p>
        </p:txBody>
      </p:sp>
      <p:sp>
        <p:nvSpPr>
          <p:cNvPr id="21" name="TextBox 20"/>
          <p:cNvSpPr txBox="1"/>
          <p:nvPr/>
        </p:nvSpPr>
        <p:spPr>
          <a:xfrm>
            <a:off x="822960" y="4160520"/>
            <a:ext cx="10789920" cy="457200"/>
          </a:xfrm>
          <a:prstGeom prst="rect">
            <a:avLst/>
          </a:prstGeom>
          <a:noFill/>
        </p:spPr>
        <p:txBody>
          <a:bodyPr wrap="square">
            <a:spAutoFit/>
          </a:bodyPr>
          <a:lstStyle/>
          <a:p>
            <a:pPr>
              <a:defRPr sz="1800" b="1">
                <a:solidFill>
                  <a:srgbClr val="1F4E79"/>
                </a:solidFill>
              </a:defRPr>
            </a:pPr>
            <a:r>
              <a:t>No recorded disorder / blank Sleep Disorder values: 219 records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Methodology</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4</a:t>
            </a:r>
          </a:p>
        </p:txBody>
      </p:sp>
      <p:sp>
        <p:nvSpPr>
          <p:cNvPr id="5" name="TextBox 4"/>
          <p:cNvSpPr txBox="1"/>
          <p:nvPr/>
        </p:nvSpPr>
        <p:spPr>
          <a:xfrm>
            <a:off x="914400" y="1005840"/>
            <a:ext cx="10424160" cy="4389120"/>
          </a:xfrm>
          <a:prstGeom prst="rect">
            <a:avLst/>
          </a:prstGeom>
          <a:noFill/>
        </p:spPr>
        <p:txBody>
          <a:bodyPr wrap="square">
            <a:spAutoFit/>
          </a:bodyPr>
          <a:lstStyle/>
          <a:p>
            <a:pPr>
              <a:defRPr sz="2000">
                <a:solidFill>
                  <a:srgbClr val="232323"/>
                </a:solidFill>
              </a:defRPr>
            </a:pPr>
            <a:r>
              <a:t>1. Load dataset using pandas.</a:t>
            </a:r>
          </a:p>
          <a:p>
            <a:pPr>
              <a:defRPr sz="2000">
                <a:solidFill>
                  <a:srgbClr val="232323"/>
                </a:solidFill>
              </a:defRPr>
            </a:pPr>
            <a:r>
              <a:t>2. Check dataset information, statistical summary, and missing values.</a:t>
            </a:r>
          </a:p>
          <a:p>
            <a:pPr>
              <a:defRPr sz="2000">
                <a:solidFill>
                  <a:srgbClr val="232323"/>
                </a:solidFill>
              </a:defRPr>
            </a:pPr>
            <a:r>
              <a:t>3. Use Matplotlib and Seaborn visualizations from Project.ipynb.</a:t>
            </a:r>
          </a:p>
          <a:p>
            <a:pPr>
              <a:defRPr sz="2000">
                <a:solidFill>
                  <a:srgbClr val="232323"/>
                </a:solidFill>
              </a:defRPr>
            </a:pPr>
            <a:r>
              <a:t>4. Study relationships between lifestyle variables and sleep disorder categories.</a:t>
            </a:r>
          </a:p>
          <a:p>
            <a:pPr>
              <a:defRPr sz="2000">
                <a:solidFill>
                  <a:srgbClr val="232323"/>
                </a:solidFill>
              </a:defRPr>
            </a:pPr>
            <a:r>
              <a:t>5. Summarize findings using extracted notebook graphs.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BMI Category vs Sleep Disorder</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5</a:t>
            </a:r>
          </a:p>
        </p:txBody>
      </p:sp>
      <p:pic>
        <p:nvPicPr>
          <p:cNvPr id="5" name="Picture 4" descr="fig_cell_03_0.png"/>
          <p:cNvPicPr>
            <a:picLocks noChangeAspect="1"/>
          </p:cNvPicPr>
          <p:nvPr/>
        </p:nvPicPr>
        <p:blipFill>
          <a:blip r:embed="rId2"/>
          <a:stretch>
            <a:fillRect/>
          </a:stretch>
        </p:blipFill>
        <p:spPr>
          <a:xfrm>
            <a:off x="640080" y="1090292"/>
            <a:ext cx="6583680" cy="4494535"/>
          </a:xfrm>
          <a:prstGeom prst="rect">
            <a:avLst/>
          </a:prstGeom>
        </p:spPr>
      </p:pic>
      <p:sp>
        <p:nvSpPr>
          <p:cNvPr id="6" name="TextBox 5"/>
          <p:cNvSpPr txBox="1"/>
          <p:nvPr/>
        </p:nvSpPr>
        <p:spPr>
          <a:xfrm>
            <a:off x="7543800" y="1143000"/>
            <a:ext cx="3931920" cy="365760"/>
          </a:xfrm>
          <a:prstGeom prst="rect">
            <a:avLst/>
          </a:prstGeom>
          <a:noFill/>
        </p:spPr>
        <p:txBody>
          <a:bodyPr wrap="square">
            <a:spAutoFit/>
          </a:bodyPr>
          <a:lstStyle/>
          <a:p>
            <a:pPr>
              <a:defRPr sz="1800" b="1">
                <a:solidFill>
                  <a:srgbClr val="1F4E79"/>
                </a:solidFill>
              </a:defRPr>
            </a:pPr>
            <a:r>
              <a:t>Interpretation</a:t>
            </a:r>
          </a:p>
        </p:txBody>
      </p:sp>
      <p:sp>
        <p:nvSpPr>
          <p:cNvPr id="7" name="TextBox 6"/>
          <p:cNvSpPr txBox="1"/>
          <p:nvPr/>
        </p:nvSpPr>
        <p:spPr>
          <a:xfrm>
            <a:off x="7543800" y="1645920"/>
            <a:ext cx="3977639" cy="3383280"/>
          </a:xfrm>
          <a:prstGeom prst="rect">
            <a:avLst/>
          </a:prstGeom>
          <a:noFill/>
        </p:spPr>
        <p:txBody>
          <a:bodyPr wrap="square">
            <a:spAutoFit/>
          </a:bodyPr>
          <a:lstStyle/>
          <a:p>
            <a:pPr>
              <a:defRPr sz="1500" b="0">
                <a:solidFill>
                  <a:srgbClr val="2D2D2D"/>
                </a:solidFill>
              </a:defRPr>
            </a:pPr>
            <a:r>
              <a:t>This graph compares sleep disorder records across BMI categories. Overweight records have the highest number of both Insomnia and Sleep Apnea cases, showing that BMI category is an important lifestyle factor in the dataset.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Correlation Heatmap</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6</a:t>
            </a:r>
          </a:p>
        </p:txBody>
      </p:sp>
      <p:pic>
        <p:nvPicPr>
          <p:cNvPr id="5" name="Picture 4" descr="fig_cell_04_0.png"/>
          <p:cNvPicPr>
            <a:picLocks noChangeAspect="1"/>
          </p:cNvPicPr>
          <p:nvPr/>
        </p:nvPicPr>
        <p:blipFill>
          <a:blip r:embed="rId2"/>
          <a:stretch>
            <a:fillRect/>
          </a:stretch>
        </p:blipFill>
        <p:spPr>
          <a:xfrm>
            <a:off x="503339" y="914399"/>
            <a:ext cx="6457801" cy="5725546"/>
          </a:xfrm>
          <a:prstGeom prst="rect">
            <a:avLst/>
          </a:prstGeom>
        </p:spPr>
      </p:pic>
      <p:sp>
        <p:nvSpPr>
          <p:cNvPr id="6" name="TextBox 5"/>
          <p:cNvSpPr txBox="1"/>
          <p:nvPr/>
        </p:nvSpPr>
        <p:spPr>
          <a:xfrm>
            <a:off x="7543800" y="1143000"/>
            <a:ext cx="3931920" cy="365760"/>
          </a:xfrm>
          <a:prstGeom prst="rect">
            <a:avLst/>
          </a:prstGeom>
          <a:noFill/>
        </p:spPr>
        <p:txBody>
          <a:bodyPr wrap="square">
            <a:spAutoFit/>
          </a:bodyPr>
          <a:lstStyle/>
          <a:p>
            <a:pPr>
              <a:defRPr sz="1800" b="1">
                <a:solidFill>
                  <a:srgbClr val="1F4E79"/>
                </a:solidFill>
              </a:defRPr>
            </a:pPr>
            <a:r>
              <a:t>Interpretation</a:t>
            </a:r>
          </a:p>
        </p:txBody>
      </p:sp>
      <p:sp>
        <p:nvSpPr>
          <p:cNvPr id="7" name="TextBox 6"/>
          <p:cNvSpPr txBox="1"/>
          <p:nvPr/>
        </p:nvSpPr>
        <p:spPr>
          <a:xfrm>
            <a:off x="7543800" y="1645920"/>
            <a:ext cx="3977639" cy="3383280"/>
          </a:xfrm>
          <a:prstGeom prst="rect">
            <a:avLst/>
          </a:prstGeom>
          <a:noFill/>
        </p:spPr>
        <p:txBody>
          <a:bodyPr wrap="square">
            <a:spAutoFit/>
          </a:bodyPr>
          <a:lstStyle/>
          <a:p>
            <a:pPr>
              <a:defRPr sz="1500" b="0">
                <a:solidFill>
                  <a:srgbClr val="2D2D2D"/>
                </a:solidFill>
              </a:defRPr>
            </a:pPr>
            <a:r>
              <a:t>The heatmap shows relationships among numerical variables. Sleep Duration and Quality of Sleep are strongly positively related, while Stress Level is strongly negatively related to both Sleep Duration and Quality of Sleep.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Sleep Disorder and BMI Category Distribution</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7</a:t>
            </a:r>
          </a:p>
        </p:txBody>
      </p:sp>
      <p:pic>
        <p:nvPicPr>
          <p:cNvPr id="5" name="Picture 4" descr="fig_cell_14_0.png"/>
          <p:cNvPicPr>
            <a:picLocks noChangeAspect="1"/>
          </p:cNvPicPr>
          <p:nvPr/>
        </p:nvPicPr>
        <p:blipFill>
          <a:blip r:embed="rId2"/>
          <a:stretch>
            <a:fillRect/>
          </a:stretch>
        </p:blipFill>
        <p:spPr>
          <a:xfrm>
            <a:off x="1265025" y="914400"/>
            <a:ext cx="3870749" cy="4023360"/>
          </a:xfrm>
          <a:prstGeom prst="rect">
            <a:avLst/>
          </a:prstGeom>
        </p:spPr>
      </p:pic>
      <p:sp>
        <p:nvSpPr>
          <p:cNvPr id="6" name="TextBox 5"/>
          <p:cNvSpPr txBox="1"/>
          <p:nvPr/>
        </p:nvSpPr>
        <p:spPr>
          <a:xfrm>
            <a:off x="548640" y="4892040"/>
            <a:ext cx="5303520" cy="274320"/>
          </a:xfrm>
          <a:prstGeom prst="rect">
            <a:avLst/>
          </a:prstGeom>
          <a:noFill/>
        </p:spPr>
        <p:txBody>
          <a:bodyPr wrap="square">
            <a:spAutoFit/>
          </a:bodyPr>
          <a:lstStyle/>
          <a:p>
            <a:pPr>
              <a:defRPr sz="1200" b="1">
                <a:solidFill>
                  <a:srgbClr val="1F4E79"/>
                </a:solidFill>
              </a:defRPr>
            </a:pPr>
            <a:r>
              <a:t>Distribution of Sleep Disorders</a:t>
            </a:r>
          </a:p>
        </p:txBody>
      </p:sp>
      <p:pic>
        <p:nvPicPr>
          <p:cNvPr id="7" name="Picture 6" descr="fig_cell_16_0.png"/>
          <p:cNvPicPr>
            <a:picLocks noChangeAspect="1"/>
          </p:cNvPicPr>
          <p:nvPr/>
        </p:nvPicPr>
        <p:blipFill>
          <a:blip r:embed="rId3"/>
          <a:stretch>
            <a:fillRect/>
          </a:stretch>
        </p:blipFill>
        <p:spPr>
          <a:xfrm>
            <a:off x="6650033" y="914400"/>
            <a:ext cx="4439293" cy="4023360"/>
          </a:xfrm>
          <a:prstGeom prst="rect">
            <a:avLst/>
          </a:prstGeom>
        </p:spPr>
      </p:pic>
      <p:sp>
        <p:nvSpPr>
          <p:cNvPr id="8" name="TextBox 7"/>
          <p:cNvSpPr txBox="1"/>
          <p:nvPr/>
        </p:nvSpPr>
        <p:spPr>
          <a:xfrm>
            <a:off x="6217920" y="4892040"/>
            <a:ext cx="5303520" cy="274320"/>
          </a:xfrm>
          <a:prstGeom prst="rect">
            <a:avLst/>
          </a:prstGeom>
          <a:noFill/>
        </p:spPr>
        <p:txBody>
          <a:bodyPr wrap="square">
            <a:spAutoFit/>
          </a:bodyPr>
          <a:lstStyle/>
          <a:p>
            <a:pPr>
              <a:defRPr sz="1200" b="1">
                <a:solidFill>
                  <a:srgbClr val="1F4E79"/>
                </a:solidFill>
              </a:defRPr>
            </a:pPr>
            <a:r>
              <a:t>BMI Category Distribution</a:t>
            </a:r>
          </a:p>
        </p:txBody>
      </p:sp>
      <p:sp>
        <p:nvSpPr>
          <p:cNvPr id="9" name="TextBox 8"/>
          <p:cNvSpPr txBox="1"/>
          <p:nvPr/>
        </p:nvSpPr>
        <p:spPr>
          <a:xfrm>
            <a:off x="731520" y="5779008"/>
            <a:ext cx="10789920" cy="411480"/>
          </a:xfrm>
          <a:prstGeom prst="rect">
            <a:avLst/>
          </a:prstGeom>
          <a:noFill/>
        </p:spPr>
        <p:txBody>
          <a:bodyPr wrap="square">
            <a:spAutoFit/>
          </a:bodyPr>
          <a:lstStyle/>
          <a:p>
            <a:pPr>
              <a:defRPr sz="1400" b="1">
                <a:solidFill>
                  <a:srgbClr val="3C3C3C"/>
                </a:solidFill>
              </a:defRPr>
            </a:pPr>
            <a:r>
              <a:t>Key point: the paired notebook graphs show the distribution and comparison pattern from the dataset.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Average Quality and Daily Steps by Sleep Disorder</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8</a:t>
            </a:r>
          </a:p>
        </p:txBody>
      </p:sp>
      <p:pic>
        <p:nvPicPr>
          <p:cNvPr id="5" name="Picture 4" descr="fig_cell_05_0.png"/>
          <p:cNvPicPr>
            <a:picLocks noChangeAspect="1"/>
          </p:cNvPicPr>
          <p:nvPr/>
        </p:nvPicPr>
        <p:blipFill>
          <a:blip r:embed="rId2"/>
          <a:stretch>
            <a:fillRect/>
          </a:stretch>
        </p:blipFill>
        <p:spPr>
          <a:xfrm>
            <a:off x="548640" y="933457"/>
            <a:ext cx="5303520" cy="3985245"/>
          </a:xfrm>
          <a:prstGeom prst="rect">
            <a:avLst/>
          </a:prstGeom>
        </p:spPr>
      </p:pic>
      <p:sp>
        <p:nvSpPr>
          <p:cNvPr id="6" name="TextBox 5"/>
          <p:cNvSpPr txBox="1"/>
          <p:nvPr/>
        </p:nvSpPr>
        <p:spPr>
          <a:xfrm>
            <a:off x="548640" y="4892040"/>
            <a:ext cx="5303520" cy="274320"/>
          </a:xfrm>
          <a:prstGeom prst="rect">
            <a:avLst/>
          </a:prstGeom>
          <a:noFill/>
        </p:spPr>
        <p:txBody>
          <a:bodyPr wrap="square">
            <a:spAutoFit/>
          </a:bodyPr>
          <a:lstStyle/>
          <a:p>
            <a:pPr>
              <a:defRPr sz="1200" b="1">
                <a:solidFill>
                  <a:srgbClr val="1F4E79"/>
                </a:solidFill>
              </a:defRPr>
            </a:pPr>
            <a:r>
              <a:t>Average Quality of Sleep by Sleep Disorder</a:t>
            </a:r>
          </a:p>
        </p:txBody>
      </p:sp>
      <p:pic>
        <p:nvPicPr>
          <p:cNvPr id="7" name="Picture 6" descr="fig_cell_06_1.png"/>
          <p:cNvPicPr>
            <a:picLocks noChangeAspect="1"/>
          </p:cNvPicPr>
          <p:nvPr/>
        </p:nvPicPr>
        <p:blipFill>
          <a:blip r:embed="rId3"/>
          <a:stretch>
            <a:fillRect/>
          </a:stretch>
        </p:blipFill>
        <p:spPr>
          <a:xfrm>
            <a:off x="6217920" y="1031277"/>
            <a:ext cx="5303520" cy="3789606"/>
          </a:xfrm>
          <a:prstGeom prst="rect">
            <a:avLst/>
          </a:prstGeom>
        </p:spPr>
      </p:pic>
      <p:sp>
        <p:nvSpPr>
          <p:cNvPr id="8" name="TextBox 7"/>
          <p:cNvSpPr txBox="1"/>
          <p:nvPr/>
        </p:nvSpPr>
        <p:spPr>
          <a:xfrm>
            <a:off x="6217920" y="4892040"/>
            <a:ext cx="5303520" cy="274320"/>
          </a:xfrm>
          <a:prstGeom prst="rect">
            <a:avLst/>
          </a:prstGeom>
          <a:noFill/>
        </p:spPr>
        <p:txBody>
          <a:bodyPr wrap="square">
            <a:spAutoFit/>
          </a:bodyPr>
          <a:lstStyle/>
          <a:p>
            <a:pPr>
              <a:defRPr sz="1200" b="1">
                <a:solidFill>
                  <a:srgbClr val="1F4E79"/>
                </a:solidFill>
              </a:defRPr>
            </a:pPr>
            <a:r>
              <a:t>Average Daily Steps by Sleep Disorder</a:t>
            </a:r>
          </a:p>
        </p:txBody>
      </p:sp>
      <p:sp>
        <p:nvSpPr>
          <p:cNvPr id="9" name="TextBox 8"/>
          <p:cNvSpPr txBox="1"/>
          <p:nvPr/>
        </p:nvSpPr>
        <p:spPr>
          <a:xfrm>
            <a:off x="731520" y="5779008"/>
            <a:ext cx="10789920" cy="411480"/>
          </a:xfrm>
          <a:prstGeom prst="rect">
            <a:avLst/>
          </a:prstGeom>
          <a:noFill/>
        </p:spPr>
        <p:txBody>
          <a:bodyPr wrap="square">
            <a:spAutoFit/>
          </a:bodyPr>
          <a:lstStyle/>
          <a:p>
            <a:pPr>
              <a:defRPr sz="1400" b="1">
                <a:solidFill>
                  <a:srgbClr val="3C3C3C"/>
                </a:solidFill>
              </a:defRPr>
            </a:pPr>
            <a:r>
              <a:t>Key point: Insomnia has lower sleep quality, while daily steps differ across disorder groups.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Occupation vs Quality of Sleep by Sleep Disorder</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9</a:t>
            </a:r>
          </a:p>
        </p:txBody>
      </p:sp>
      <p:pic>
        <p:nvPicPr>
          <p:cNvPr id="5" name="Picture 4" descr="fig_cell_07_0.png"/>
          <p:cNvPicPr>
            <a:picLocks noChangeAspect="1"/>
          </p:cNvPicPr>
          <p:nvPr/>
        </p:nvPicPr>
        <p:blipFill>
          <a:blip r:embed="rId2"/>
          <a:stretch>
            <a:fillRect/>
          </a:stretch>
        </p:blipFill>
        <p:spPr>
          <a:xfrm>
            <a:off x="2093323" y="777240"/>
            <a:ext cx="7974874" cy="4937760"/>
          </a:xfrm>
          <a:prstGeom prst="rect">
            <a:avLst/>
          </a:prstGeom>
        </p:spPr>
      </p:pic>
      <p:sp>
        <p:nvSpPr>
          <p:cNvPr id="6" name="TextBox 5"/>
          <p:cNvSpPr txBox="1"/>
          <p:nvPr/>
        </p:nvSpPr>
        <p:spPr>
          <a:xfrm>
            <a:off x="685800" y="5715000"/>
            <a:ext cx="10789920" cy="594360"/>
          </a:xfrm>
          <a:prstGeom prst="rect">
            <a:avLst/>
          </a:prstGeom>
          <a:noFill/>
        </p:spPr>
        <p:txBody>
          <a:bodyPr wrap="square">
            <a:spAutoFit/>
          </a:bodyPr>
          <a:lstStyle/>
          <a:p>
            <a:pPr>
              <a:defRPr sz="1200" b="0">
                <a:solidFill>
                  <a:srgbClr val="323232"/>
                </a:solidFill>
              </a:defRPr>
            </a:pPr>
            <a:r>
              <a:t>Interpretation: This occupation-based chart helps compare how sleep quality differs across professions and sleep disorder groups. It shows that the effect of sleep disorder is not uniform across occupations.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Sleep Disorder by Occupation</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10</a:t>
            </a:r>
          </a:p>
        </p:txBody>
      </p:sp>
      <p:pic>
        <p:nvPicPr>
          <p:cNvPr id="5" name="Picture 4" descr="fig_cell_08_0.png"/>
          <p:cNvPicPr>
            <a:picLocks noChangeAspect="1"/>
          </p:cNvPicPr>
          <p:nvPr/>
        </p:nvPicPr>
        <p:blipFill>
          <a:blip r:embed="rId2"/>
          <a:stretch>
            <a:fillRect/>
          </a:stretch>
        </p:blipFill>
        <p:spPr>
          <a:xfrm>
            <a:off x="2180691" y="777240"/>
            <a:ext cx="7800137" cy="4937760"/>
          </a:xfrm>
          <a:prstGeom prst="rect">
            <a:avLst/>
          </a:prstGeom>
        </p:spPr>
      </p:pic>
      <p:sp>
        <p:nvSpPr>
          <p:cNvPr id="6" name="TextBox 5"/>
          <p:cNvSpPr txBox="1"/>
          <p:nvPr/>
        </p:nvSpPr>
        <p:spPr>
          <a:xfrm>
            <a:off x="685800" y="5715000"/>
            <a:ext cx="10789920" cy="594360"/>
          </a:xfrm>
          <a:prstGeom prst="rect">
            <a:avLst/>
          </a:prstGeom>
          <a:noFill/>
        </p:spPr>
        <p:txBody>
          <a:bodyPr wrap="square">
            <a:spAutoFit/>
          </a:bodyPr>
          <a:lstStyle/>
          <a:p>
            <a:pPr>
              <a:defRPr sz="1200" b="0">
                <a:solidFill>
                  <a:srgbClr val="323232"/>
                </a:solidFill>
              </a:defRPr>
            </a:pPr>
            <a:r>
              <a:t>Interpretation: This count plot shows which occupations contain more sleep disorder records. Nurse, Teacher, and Salesperson categories show a visible concentration of disorder cases in the dataset.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Gender vs Sleep Disorder</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11</a:t>
            </a:r>
          </a:p>
        </p:txBody>
      </p:sp>
      <p:pic>
        <p:nvPicPr>
          <p:cNvPr id="5" name="Picture 4" descr="fig_cell_09_0.png"/>
          <p:cNvPicPr>
            <a:picLocks noChangeAspect="1"/>
          </p:cNvPicPr>
          <p:nvPr/>
        </p:nvPicPr>
        <p:blipFill>
          <a:blip r:embed="rId2"/>
          <a:stretch>
            <a:fillRect/>
          </a:stretch>
        </p:blipFill>
        <p:spPr>
          <a:xfrm>
            <a:off x="651714" y="914400"/>
            <a:ext cx="6560412" cy="4846320"/>
          </a:xfrm>
          <a:prstGeom prst="rect">
            <a:avLst/>
          </a:prstGeom>
        </p:spPr>
      </p:pic>
      <p:sp>
        <p:nvSpPr>
          <p:cNvPr id="6" name="TextBox 5"/>
          <p:cNvSpPr txBox="1"/>
          <p:nvPr/>
        </p:nvSpPr>
        <p:spPr>
          <a:xfrm>
            <a:off x="7543800" y="1143000"/>
            <a:ext cx="3931920" cy="365760"/>
          </a:xfrm>
          <a:prstGeom prst="rect">
            <a:avLst/>
          </a:prstGeom>
          <a:noFill/>
        </p:spPr>
        <p:txBody>
          <a:bodyPr wrap="square">
            <a:spAutoFit/>
          </a:bodyPr>
          <a:lstStyle/>
          <a:p>
            <a:pPr>
              <a:defRPr sz="1800" b="1">
                <a:solidFill>
                  <a:srgbClr val="1F4E79"/>
                </a:solidFill>
              </a:defRPr>
            </a:pPr>
            <a:r>
              <a:t>Interpretation</a:t>
            </a:r>
          </a:p>
        </p:txBody>
      </p:sp>
      <p:sp>
        <p:nvSpPr>
          <p:cNvPr id="7" name="TextBox 6"/>
          <p:cNvSpPr txBox="1"/>
          <p:nvPr/>
        </p:nvSpPr>
        <p:spPr>
          <a:xfrm>
            <a:off x="7543800" y="1645920"/>
            <a:ext cx="3977639" cy="3383280"/>
          </a:xfrm>
          <a:prstGeom prst="rect">
            <a:avLst/>
          </a:prstGeom>
          <a:noFill/>
        </p:spPr>
        <p:txBody>
          <a:bodyPr wrap="square">
            <a:spAutoFit/>
          </a:bodyPr>
          <a:lstStyle/>
          <a:p>
            <a:pPr>
              <a:defRPr sz="1500" b="0">
                <a:solidFill>
                  <a:srgbClr val="2D2D2D"/>
                </a:solidFill>
              </a:defRPr>
            </a:pPr>
            <a:r>
              <a:t>This graph compares recorded sleep disorders by gender. Female records show a higher number of Sleep Apnea cases, while male records show more Insomnia cases in this dataset.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Average Stress Level by Sleep Disorder</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12</a:t>
            </a:r>
          </a:p>
        </p:txBody>
      </p:sp>
      <p:pic>
        <p:nvPicPr>
          <p:cNvPr id="5" name="Picture 4" descr="fig_cell_10_1.png"/>
          <p:cNvPicPr>
            <a:picLocks noChangeAspect="1"/>
          </p:cNvPicPr>
          <p:nvPr/>
        </p:nvPicPr>
        <p:blipFill>
          <a:blip r:embed="rId2"/>
          <a:stretch>
            <a:fillRect/>
          </a:stretch>
        </p:blipFill>
        <p:spPr>
          <a:xfrm>
            <a:off x="707206" y="914400"/>
            <a:ext cx="6449428" cy="4846320"/>
          </a:xfrm>
          <a:prstGeom prst="rect">
            <a:avLst/>
          </a:prstGeom>
        </p:spPr>
      </p:pic>
      <p:sp>
        <p:nvSpPr>
          <p:cNvPr id="6" name="TextBox 5"/>
          <p:cNvSpPr txBox="1"/>
          <p:nvPr/>
        </p:nvSpPr>
        <p:spPr>
          <a:xfrm>
            <a:off x="7543800" y="1143000"/>
            <a:ext cx="3931920" cy="365760"/>
          </a:xfrm>
          <a:prstGeom prst="rect">
            <a:avLst/>
          </a:prstGeom>
          <a:noFill/>
        </p:spPr>
        <p:txBody>
          <a:bodyPr wrap="square">
            <a:spAutoFit/>
          </a:bodyPr>
          <a:lstStyle/>
          <a:p>
            <a:pPr>
              <a:defRPr sz="1800" b="1">
                <a:solidFill>
                  <a:srgbClr val="1F4E79"/>
                </a:solidFill>
              </a:defRPr>
            </a:pPr>
            <a:r>
              <a:t>Interpretation</a:t>
            </a:r>
          </a:p>
        </p:txBody>
      </p:sp>
      <p:sp>
        <p:nvSpPr>
          <p:cNvPr id="7" name="TextBox 6"/>
          <p:cNvSpPr txBox="1"/>
          <p:nvPr/>
        </p:nvSpPr>
        <p:spPr>
          <a:xfrm>
            <a:off x="7543800" y="1645920"/>
            <a:ext cx="3977639" cy="3383280"/>
          </a:xfrm>
          <a:prstGeom prst="rect">
            <a:avLst/>
          </a:prstGeom>
          <a:noFill/>
        </p:spPr>
        <p:txBody>
          <a:bodyPr wrap="square">
            <a:spAutoFit/>
          </a:bodyPr>
          <a:lstStyle/>
          <a:p>
            <a:pPr>
              <a:defRPr sz="1500" b="0">
                <a:solidFill>
                  <a:srgbClr val="2D2D2D"/>
                </a:solidFill>
              </a:defRPr>
            </a:pPr>
            <a:r>
              <a:t>This bar chart shows that both Insomnia and Sleep Apnea groups have higher average stress levels than the no-disorder group, supporting the link between stress and sleep health.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Physical Activity vs Sleep Disorder</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13</a:t>
            </a:r>
          </a:p>
        </p:txBody>
      </p:sp>
      <p:pic>
        <p:nvPicPr>
          <p:cNvPr id="5" name="Picture 4" descr="fig_cell_11_1.png"/>
          <p:cNvPicPr>
            <a:picLocks noChangeAspect="1"/>
          </p:cNvPicPr>
          <p:nvPr/>
        </p:nvPicPr>
        <p:blipFill>
          <a:blip r:embed="rId2"/>
          <a:stretch>
            <a:fillRect/>
          </a:stretch>
        </p:blipFill>
        <p:spPr>
          <a:xfrm>
            <a:off x="786968" y="914400"/>
            <a:ext cx="6289904" cy="4846320"/>
          </a:xfrm>
          <a:prstGeom prst="rect">
            <a:avLst/>
          </a:prstGeom>
        </p:spPr>
      </p:pic>
      <p:sp>
        <p:nvSpPr>
          <p:cNvPr id="6" name="TextBox 5"/>
          <p:cNvSpPr txBox="1"/>
          <p:nvPr/>
        </p:nvSpPr>
        <p:spPr>
          <a:xfrm>
            <a:off x="7543800" y="1143000"/>
            <a:ext cx="3931920" cy="365760"/>
          </a:xfrm>
          <a:prstGeom prst="rect">
            <a:avLst/>
          </a:prstGeom>
          <a:noFill/>
        </p:spPr>
        <p:txBody>
          <a:bodyPr wrap="square">
            <a:spAutoFit/>
          </a:bodyPr>
          <a:lstStyle/>
          <a:p>
            <a:pPr>
              <a:defRPr sz="1800" b="1">
                <a:solidFill>
                  <a:srgbClr val="1F4E79"/>
                </a:solidFill>
              </a:defRPr>
            </a:pPr>
            <a:r>
              <a:t>Interpretation</a:t>
            </a:r>
          </a:p>
        </p:txBody>
      </p:sp>
      <p:sp>
        <p:nvSpPr>
          <p:cNvPr id="7" name="TextBox 6"/>
          <p:cNvSpPr txBox="1"/>
          <p:nvPr/>
        </p:nvSpPr>
        <p:spPr>
          <a:xfrm>
            <a:off x="7543800" y="1645920"/>
            <a:ext cx="3977639" cy="3383280"/>
          </a:xfrm>
          <a:prstGeom prst="rect">
            <a:avLst/>
          </a:prstGeom>
          <a:noFill/>
        </p:spPr>
        <p:txBody>
          <a:bodyPr wrap="square">
            <a:spAutoFit/>
          </a:bodyPr>
          <a:lstStyle/>
          <a:p>
            <a:pPr>
              <a:defRPr sz="1500" b="0">
                <a:solidFill>
                  <a:srgbClr val="2D2D2D"/>
                </a:solidFill>
              </a:defRPr>
            </a:pPr>
            <a:r>
              <a:t>The boxplot compares physical activity distribution for each sleep disorder group. Sleep Apnea records show higher physical activity levels, while Insomnia records are lower on average.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Stress Level vs Sleep Duration</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14</a:t>
            </a:r>
          </a:p>
        </p:txBody>
      </p:sp>
      <p:pic>
        <p:nvPicPr>
          <p:cNvPr id="5" name="Picture 4" descr="fig_cell_12_0.png"/>
          <p:cNvPicPr>
            <a:picLocks noChangeAspect="1"/>
          </p:cNvPicPr>
          <p:nvPr/>
        </p:nvPicPr>
        <p:blipFill>
          <a:blip r:embed="rId2"/>
          <a:stretch>
            <a:fillRect/>
          </a:stretch>
        </p:blipFill>
        <p:spPr>
          <a:xfrm>
            <a:off x="759595" y="914400"/>
            <a:ext cx="6344649" cy="4846320"/>
          </a:xfrm>
          <a:prstGeom prst="rect">
            <a:avLst/>
          </a:prstGeom>
        </p:spPr>
      </p:pic>
      <p:sp>
        <p:nvSpPr>
          <p:cNvPr id="6" name="TextBox 5"/>
          <p:cNvSpPr txBox="1"/>
          <p:nvPr/>
        </p:nvSpPr>
        <p:spPr>
          <a:xfrm>
            <a:off x="7543800" y="1143000"/>
            <a:ext cx="3931920" cy="365760"/>
          </a:xfrm>
          <a:prstGeom prst="rect">
            <a:avLst/>
          </a:prstGeom>
          <a:noFill/>
        </p:spPr>
        <p:txBody>
          <a:bodyPr wrap="square">
            <a:spAutoFit/>
          </a:bodyPr>
          <a:lstStyle/>
          <a:p>
            <a:pPr>
              <a:defRPr sz="1800" b="1">
                <a:solidFill>
                  <a:srgbClr val="1F4E79"/>
                </a:solidFill>
              </a:defRPr>
            </a:pPr>
            <a:r>
              <a:t>Interpretation</a:t>
            </a:r>
          </a:p>
        </p:txBody>
      </p:sp>
      <p:sp>
        <p:nvSpPr>
          <p:cNvPr id="7" name="TextBox 6"/>
          <p:cNvSpPr txBox="1"/>
          <p:nvPr/>
        </p:nvSpPr>
        <p:spPr>
          <a:xfrm>
            <a:off x="7543800" y="1645920"/>
            <a:ext cx="3977639" cy="3383280"/>
          </a:xfrm>
          <a:prstGeom prst="rect">
            <a:avLst/>
          </a:prstGeom>
          <a:noFill/>
        </p:spPr>
        <p:txBody>
          <a:bodyPr wrap="square">
            <a:spAutoFit/>
          </a:bodyPr>
          <a:lstStyle/>
          <a:p>
            <a:pPr>
              <a:defRPr sz="1500" b="0">
                <a:solidFill>
                  <a:srgbClr val="2D2D2D"/>
                </a:solidFill>
              </a:defRPr>
            </a:pPr>
            <a:r>
              <a:t>This scatter plot shows that higher stress levels generally appear with shorter sleep duration. It supports the negative relationship between stress and sleep duration shown in the correlation heatmap.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Sleep Disorder vs Age</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15</a:t>
            </a:r>
          </a:p>
        </p:txBody>
      </p:sp>
      <p:pic>
        <p:nvPicPr>
          <p:cNvPr id="5" name="Picture 4" descr="fig_cell_13_1.png"/>
          <p:cNvPicPr>
            <a:picLocks noChangeAspect="1"/>
          </p:cNvPicPr>
          <p:nvPr/>
        </p:nvPicPr>
        <p:blipFill>
          <a:blip r:embed="rId2"/>
          <a:stretch>
            <a:fillRect/>
          </a:stretch>
        </p:blipFill>
        <p:spPr>
          <a:xfrm>
            <a:off x="781252" y="914400"/>
            <a:ext cx="6301335" cy="4846320"/>
          </a:xfrm>
          <a:prstGeom prst="rect">
            <a:avLst/>
          </a:prstGeom>
        </p:spPr>
      </p:pic>
      <p:sp>
        <p:nvSpPr>
          <p:cNvPr id="6" name="TextBox 5"/>
          <p:cNvSpPr txBox="1"/>
          <p:nvPr/>
        </p:nvSpPr>
        <p:spPr>
          <a:xfrm>
            <a:off x="7543800" y="1143000"/>
            <a:ext cx="3931920" cy="365760"/>
          </a:xfrm>
          <a:prstGeom prst="rect">
            <a:avLst/>
          </a:prstGeom>
          <a:noFill/>
        </p:spPr>
        <p:txBody>
          <a:bodyPr wrap="square">
            <a:spAutoFit/>
          </a:bodyPr>
          <a:lstStyle/>
          <a:p>
            <a:pPr>
              <a:defRPr sz="1800" b="1">
                <a:solidFill>
                  <a:srgbClr val="1F4E79"/>
                </a:solidFill>
              </a:defRPr>
            </a:pPr>
            <a:r>
              <a:t>Interpretation</a:t>
            </a:r>
          </a:p>
        </p:txBody>
      </p:sp>
      <p:sp>
        <p:nvSpPr>
          <p:cNvPr id="7" name="TextBox 6"/>
          <p:cNvSpPr txBox="1"/>
          <p:nvPr/>
        </p:nvSpPr>
        <p:spPr>
          <a:xfrm>
            <a:off x="7543800" y="1645920"/>
            <a:ext cx="3977639" cy="3383280"/>
          </a:xfrm>
          <a:prstGeom prst="rect">
            <a:avLst/>
          </a:prstGeom>
          <a:noFill/>
        </p:spPr>
        <p:txBody>
          <a:bodyPr wrap="square">
            <a:spAutoFit/>
          </a:bodyPr>
          <a:lstStyle/>
          <a:p>
            <a:pPr>
              <a:defRPr sz="1500" b="0">
                <a:solidFill>
                  <a:srgbClr val="2D2D2D"/>
                </a:solidFill>
              </a:defRPr>
            </a:pPr>
            <a:r>
              <a:t>The age boxplot shows the age range of people in each sleep disorder group. Sleep Apnea appears more common among older records, while Insomnia is concentrated around middle age.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Pairplot of Numeric Variables by Sleep Disorder</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16</a:t>
            </a:r>
          </a:p>
        </p:txBody>
      </p:sp>
      <p:pic>
        <p:nvPicPr>
          <p:cNvPr id="5" name="Picture 4" descr="fig_cell_15_0.png"/>
          <p:cNvPicPr>
            <a:picLocks noChangeAspect="1"/>
          </p:cNvPicPr>
          <p:nvPr/>
        </p:nvPicPr>
        <p:blipFill>
          <a:blip r:embed="rId2"/>
          <a:stretch>
            <a:fillRect/>
          </a:stretch>
        </p:blipFill>
        <p:spPr>
          <a:xfrm>
            <a:off x="3413465" y="777240"/>
            <a:ext cx="5334589" cy="4937760"/>
          </a:xfrm>
          <a:prstGeom prst="rect">
            <a:avLst/>
          </a:prstGeom>
        </p:spPr>
      </p:pic>
      <p:sp>
        <p:nvSpPr>
          <p:cNvPr id="6" name="TextBox 5"/>
          <p:cNvSpPr txBox="1"/>
          <p:nvPr/>
        </p:nvSpPr>
        <p:spPr>
          <a:xfrm>
            <a:off x="685800" y="5715000"/>
            <a:ext cx="10789920" cy="594360"/>
          </a:xfrm>
          <a:prstGeom prst="rect">
            <a:avLst/>
          </a:prstGeom>
          <a:noFill/>
        </p:spPr>
        <p:txBody>
          <a:bodyPr wrap="square">
            <a:spAutoFit/>
          </a:bodyPr>
          <a:lstStyle/>
          <a:p>
            <a:pPr>
              <a:defRPr sz="1200" b="0">
                <a:solidFill>
                  <a:srgbClr val="323232"/>
                </a:solidFill>
              </a:defRPr>
            </a:pPr>
            <a:r>
              <a:t>Interpretation: The pairplot gives an overall comparison of numeric variables. It helps identify patterns such as stress increasing when sleep duration and sleep quality decrease.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Blood Pressure vs Sleep Disorder</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17</a:t>
            </a:r>
          </a:p>
        </p:txBody>
      </p:sp>
      <p:pic>
        <p:nvPicPr>
          <p:cNvPr id="5" name="Picture 4" descr="fig_cell_17_0.png"/>
          <p:cNvPicPr>
            <a:picLocks noChangeAspect="1"/>
          </p:cNvPicPr>
          <p:nvPr/>
        </p:nvPicPr>
        <p:blipFill>
          <a:blip r:embed="rId2"/>
          <a:stretch>
            <a:fillRect/>
          </a:stretch>
        </p:blipFill>
        <p:spPr>
          <a:xfrm>
            <a:off x="2327086" y="777240"/>
            <a:ext cx="7507348" cy="4937760"/>
          </a:xfrm>
          <a:prstGeom prst="rect">
            <a:avLst/>
          </a:prstGeom>
        </p:spPr>
      </p:pic>
      <p:sp>
        <p:nvSpPr>
          <p:cNvPr id="6" name="TextBox 5"/>
          <p:cNvSpPr txBox="1"/>
          <p:nvPr/>
        </p:nvSpPr>
        <p:spPr>
          <a:xfrm>
            <a:off x="685800" y="5715000"/>
            <a:ext cx="10789920" cy="594360"/>
          </a:xfrm>
          <a:prstGeom prst="rect">
            <a:avLst/>
          </a:prstGeom>
          <a:noFill/>
        </p:spPr>
        <p:txBody>
          <a:bodyPr wrap="square">
            <a:spAutoFit/>
          </a:bodyPr>
          <a:lstStyle/>
          <a:p>
            <a:pPr>
              <a:defRPr sz="1200" b="0">
                <a:solidFill>
                  <a:srgbClr val="323232"/>
                </a:solidFill>
              </a:defRPr>
            </a:pPr>
            <a:r>
              <a:t>Interpretation: This count plot compares blood pressure readings with sleep disorder categories. Some higher blood pressure readings, such as 140/95, are strongly visible in Sleep Apnea records.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Heart Rate vs Sleep Disorder</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18</a:t>
            </a:r>
          </a:p>
        </p:txBody>
      </p:sp>
      <p:pic>
        <p:nvPicPr>
          <p:cNvPr id="5" name="Picture 4" descr="fig_cell_18_1.png"/>
          <p:cNvPicPr>
            <a:picLocks noChangeAspect="1"/>
          </p:cNvPicPr>
          <p:nvPr/>
        </p:nvPicPr>
        <p:blipFill>
          <a:blip r:embed="rId2"/>
          <a:stretch>
            <a:fillRect/>
          </a:stretch>
        </p:blipFill>
        <p:spPr>
          <a:xfrm>
            <a:off x="786968" y="914400"/>
            <a:ext cx="6289904" cy="4846320"/>
          </a:xfrm>
          <a:prstGeom prst="rect">
            <a:avLst/>
          </a:prstGeom>
        </p:spPr>
      </p:pic>
      <p:sp>
        <p:nvSpPr>
          <p:cNvPr id="6" name="TextBox 5"/>
          <p:cNvSpPr txBox="1"/>
          <p:nvPr/>
        </p:nvSpPr>
        <p:spPr>
          <a:xfrm>
            <a:off x="7543800" y="1143000"/>
            <a:ext cx="3931920" cy="365760"/>
          </a:xfrm>
          <a:prstGeom prst="rect">
            <a:avLst/>
          </a:prstGeom>
          <a:noFill/>
        </p:spPr>
        <p:txBody>
          <a:bodyPr wrap="square">
            <a:spAutoFit/>
          </a:bodyPr>
          <a:lstStyle/>
          <a:p>
            <a:pPr>
              <a:defRPr sz="1800" b="1">
                <a:solidFill>
                  <a:srgbClr val="1F4E79"/>
                </a:solidFill>
              </a:defRPr>
            </a:pPr>
            <a:r>
              <a:t>Interpretation</a:t>
            </a:r>
          </a:p>
        </p:txBody>
      </p:sp>
      <p:sp>
        <p:nvSpPr>
          <p:cNvPr id="7" name="TextBox 6"/>
          <p:cNvSpPr txBox="1"/>
          <p:nvPr/>
        </p:nvSpPr>
        <p:spPr>
          <a:xfrm>
            <a:off x="7543800" y="1645920"/>
            <a:ext cx="3977639" cy="3383280"/>
          </a:xfrm>
          <a:prstGeom prst="rect">
            <a:avLst/>
          </a:prstGeom>
          <a:noFill/>
        </p:spPr>
        <p:txBody>
          <a:bodyPr wrap="square">
            <a:spAutoFit/>
          </a:bodyPr>
          <a:lstStyle/>
          <a:p>
            <a:pPr>
              <a:defRPr sz="1500" b="0">
                <a:solidFill>
                  <a:srgbClr val="2D2D2D"/>
                </a:solidFill>
              </a:defRPr>
            </a:pPr>
            <a:r>
              <a:t>The violin plot compares heart-rate distribution across sleep disorder groups. Sleep Apnea records show a higher average heart rate than the no-disorder and Insomnia groups.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Age Distribution by Sleep Disorder</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19</a:t>
            </a:r>
          </a:p>
        </p:txBody>
      </p:sp>
      <p:pic>
        <p:nvPicPr>
          <p:cNvPr id="5" name="Picture 4" descr="fig_cell_19_1.png"/>
          <p:cNvPicPr>
            <a:picLocks noChangeAspect="1"/>
          </p:cNvPicPr>
          <p:nvPr/>
        </p:nvPicPr>
        <p:blipFill>
          <a:blip r:embed="rId2"/>
          <a:stretch>
            <a:fillRect/>
          </a:stretch>
        </p:blipFill>
        <p:spPr>
          <a:xfrm>
            <a:off x="792123" y="914400"/>
            <a:ext cx="6279593" cy="4846320"/>
          </a:xfrm>
          <a:prstGeom prst="rect">
            <a:avLst/>
          </a:prstGeom>
        </p:spPr>
      </p:pic>
      <p:sp>
        <p:nvSpPr>
          <p:cNvPr id="6" name="TextBox 5"/>
          <p:cNvSpPr txBox="1"/>
          <p:nvPr/>
        </p:nvSpPr>
        <p:spPr>
          <a:xfrm>
            <a:off x="7543800" y="1143000"/>
            <a:ext cx="3931920" cy="365760"/>
          </a:xfrm>
          <a:prstGeom prst="rect">
            <a:avLst/>
          </a:prstGeom>
          <a:noFill/>
        </p:spPr>
        <p:txBody>
          <a:bodyPr wrap="square">
            <a:spAutoFit/>
          </a:bodyPr>
          <a:lstStyle/>
          <a:p>
            <a:pPr>
              <a:defRPr sz="1800" b="1">
                <a:solidFill>
                  <a:srgbClr val="1F4E79"/>
                </a:solidFill>
              </a:defRPr>
            </a:pPr>
            <a:r>
              <a:t>Interpretation</a:t>
            </a:r>
          </a:p>
        </p:txBody>
      </p:sp>
      <p:sp>
        <p:nvSpPr>
          <p:cNvPr id="7" name="TextBox 6"/>
          <p:cNvSpPr txBox="1"/>
          <p:nvPr/>
        </p:nvSpPr>
        <p:spPr>
          <a:xfrm>
            <a:off x="7543800" y="1645920"/>
            <a:ext cx="3977639" cy="3383280"/>
          </a:xfrm>
          <a:prstGeom prst="rect">
            <a:avLst/>
          </a:prstGeom>
          <a:noFill/>
        </p:spPr>
        <p:txBody>
          <a:bodyPr wrap="square">
            <a:spAutoFit/>
          </a:bodyPr>
          <a:lstStyle/>
          <a:p>
            <a:pPr>
              <a:defRPr sz="1500" b="0">
                <a:solidFill>
                  <a:srgbClr val="2D2D2D"/>
                </a:solidFill>
              </a:defRPr>
            </a:pPr>
            <a:r>
              <a:t>This boxplot repeats the age comparison with clearer labels. It highlights that Sleep Apnea records are generally older than Insomnia and no-disorder records.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Sleep Duration and Age Distributions</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20</a:t>
            </a:r>
          </a:p>
        </p:txBody>
      </p:sp>
      <p:pic>
        <p:nvPicPr>
          <p:cNvPr id="5" name="Picture 4" descr="fig_cell_20_0.png"/>
          <p:cNvPicPr>
            <a:picLocks noChangeAspect="1"/>
          </p:cNvPicPr>
          <p:nvPr/>
        </p:nvPicPr>
        <p:blipFill>
          <a:blip r:embed="rId2"/>
          <a:stretch>
            <a:fillRect/>
          </a:stretch>
        </p:blipFill>
        <p:spPr>
          <a:xfrm>
            <a:off x="548640" y="1115781"/>
            <a:ext cx="5303520" cy="3620598"/>
          </a:xfrm>
          <a:prstGeom prst="rect">
            <a:avLst/>
          </a:prstGeom>
        </p:spPr>
      </p:pic>
      <p:sp>
        <p:nvSpPr>
          <p:cNvPr id="6" name="TextBox 5"/>
          <p:cNvSpPr txBox="1"/>
          <p:nvPr/>
        </p:nvSpPr>
        <p:spPr>
          <a:xfrm>
            <a:off x="548640" y="4892040"/>
            <a:ext cx="5303520" cy="274320"/>
          </a:xfrm>
          <a:prstGeom prst="rect">
            <a:avLst/>
          </a:prstGeom>
          <a:noFill/>
        </p:spPr>
        <p:txBody>
          <a:bodyPr wrap="square">
            <a:spAutoFit/>
          </a:bodyPr>
          <a:lstStyle/>
          <a:p>
            <a:pPr>
              <a:defRPr sz="1200" b="1">
                <a:solidFill>
                  <a:srgbClr val="1F4E79"/>
                </a:solidFill>
              </a:defRPr>
            </a:pPr>
            <a:r>
              <a:t>Distribution of Sleep Duration</a:t>
            </a:r>
          </a:p>
        </p:txBody>
      </p:sp>
      <p:pic>
        <p:nvPicPr>
          <p:cNvPr id="7" name="Picture 6" descr="fig_cell_21_0.png"/>
          <p:cNvPicPr>
            <a:picLocks noChangeAspect="1"/>
          </p:cNvPicPr>
          <p:nvPr/>
        </p:nvPicPr>
        <p:blipFill>
          <a:blip r:embed="rId3"/>
          <a:stretch>
            <a:fillRect/>
          </a:stretch>
        </p:blipFill>
        <p:spPr>
          <a:xfrm>
            <a:off x="6217920" y="1115781"/>
            <a:ext cx="5303520" cy="3620598"/>
          </a:xfrm>
          <a:prstGeom prst="rect">
            <a:avLst/>
          </a:prstGeom>
        </p:spPr>
      </p:pic>
      <p:sp>
        <p:nvSpPr>
          <p:cNvPr id="8" name="TextBox 7"/>
          <p:cNvSpPr txBox="1"/>
          <p:nvPr/>
        </p:nvSpPr>
        <p:spPr>
          <a:xfrm>
            <a:off x="6217920" y="4892040"/>
            <a:ext cx="5303520" cy="274320"/>
          </a:xfrm>
          <a:prstGeom prst="rect">
            <a:avLst/>
          </a:prstGeom>
          <a:noFill/>
        </p:spPr>
        <p:txBody>
          <a:bodyPr wrap="square">
            <a:spAutoFit/>
          </a:bodyPr>
          <a:lstStyle/>
          <a:p>
            <a:pPr>
              <a:defRPr sz="1200" b="1">
                <a:solidFill>
                  <a:srgbClr val="1F4E79"/>
                </a:solidFill>
              </a:defRPr>
            </a:pPr>
            <a:r>
              <a:t>Age Distribution</a:t>
            </a:r>
          </a:p>
        </p:txBody>
      </p:sp>
      <p:sp>
        <p:nvSpPr>
          <p:cNvPr id="9" name="TextBox 8"/>
          <p:cNvSpPr txBox="1"/>
          <p:nvPr/>
        </p:nvSpPr>
        <p:spPr>
          <a:xfrm>
            <a:off x="731520" y="5779008"/>
            <a:ext cx="10789920" cy="411480"/>
          </a:xfrm>
          <a:prstGeom prst="rect">
            <a:avLst/>
          </a:prstGeom>
          <a:noFill/>
        </p:spPr>
        <p:txBody>
          <a:bodyPr wrap="square">
            <a:spAutoFit/>
          </a:bodyPr>
          <a:lstStyle/>
          <a:p>
            <a:pPr>
              <a:defRPr sz="1400" b="1">
                <a:solidFill>
                  <a:srgbClr val="3C3C3C"/>
                </a:solidFill>
              </a:defRPr>
            </a:pPr>
            <a:r>
              <a:t>Key point: the paired notebook graphs show the distribution and comparison pattern from the dataset.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Stress Level and Heart Rate Distributions</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21</a:t>
            </a:r>
          </a:p>
        </p:txBody>
      </p:sp>
      <p:pic>
        <p:nvPicPr>
          <p:cNvPr id="5" name="Picture 4" descr="fig_cell_22_0.png"/>
          <p:cNvPicPr>
            <a:picLocks noChangeAspect="1"/>
          </p:cNvPicPr>
          <p:nvPr/>
        </p:nvPicPr>
        <p:blipFill>
          <a:blip r:embed="rId2"/>
          <a:stretch>
            <a:fillRect/>
          </a:stretch>
        </p:blipFill>
        <p:spPr>
          <a:xfrm>
            <a:off x="548640" y="1115781"/>
            <a:ext cx="5303520" cy="3620598"/>
          </a:xfrm>
          <a:prstGeom prst="rect">
            <a:avLst/>
          </a:prstGeom>
        </p:spPr>
      </p:pic>
      <p:sp>
        <p:nvSpPr>
          <p:cNvPr id="6" name="TextBox 5"/>
          <p:cNvSpPr txBox="1"/>
          <p:nvPr/>
        </p:nvSpPr>
        <p:spPr>
          <a:xfrm>
            <a:off x="548640" y="4892040"/>
            <a:ext cx="5303520" cy="274320"/>
          </a:xfrm>
          <a:prstGeom prst="rect">
            <a:avLst/>
          </a:prstGeom>
          <a:noFill/>
        </p:spPr>
        <p:txBody>
          <a:bodyPr wrap="square">
            <a:spAutoFit/>
          </a:bodyPr>
          <a:lstStyle/>
          <a:p>
            <a:pPr>
              <a:defRPr sz="1200" b="1">
                <a:solidFill>
                  <a:srgbClr val="1F4E79"/>
                </a:solidFill>
              </a:defRPr>
            </a:pPr>
            <a:r>
              <a:t>Stress Level Distribution</a:t>
            </a:r>
          </a:p>
        </p:txBody>
      </p:sp>
      <p:pic>
        <p:nvPicPr>
          <p:cNvPr id="7" name="Picture 6" descr="fig_cell_23_0.png"/>
          <p:cNvPicPr>
            <a:picLocks noChangeAspect="1"/>
          </p:cNvPicPr>
          <p:nvPr/>
        </p:nvPicPr>
        <p:blipFill>
          <a:blip r:embed="rId3"/>
          <a:stretch>
            <a:fillRect/>
          </a:stretch>
        </p:blipFill>
        <p:spPr>
          <a:xfrm>
            <a:off x="6217920" y="1139190"/>
            <a:ext cx="5303520" cy="3573780"/>
          </a:xfrm>
          <a:prstGeom prst="rect">
            <a:avLst/>
          </a:prstGeom>
        </p:spPr>
      </p:pic>
      <p:sp>
        <p:nvSpPr>
          <p:cNvPr id="8" name="TextBox 7"/>
          <p:cNvSpPr txBox="1"/>
          <p:nvPr/>
        </p:nvSpPr>
        <p:spPr>
          <a:xfrm>
            <a:off x="6217920" y="4892040"/>
            <a:ext cx="5303520" cy="274320"/>
          </a:xfrm>
          <a:prstGeom prst="rect">
            <a:avLst/>
          </a:prstGeom>
          <a:noFill/>
        </p:spPr>
        <p:txBody>
          <a:bodyPr wrap="square">
            <a:spAutoFit/>
          </a:bodyPr>
          <a:lstStyle/>
          <a:p>
            <a:pPr>
              <a:defRPr sz="1200" b="1">
                <a:solidFill>
                  <a:srgbClr val="1F4E79"/>
                </a:solidFill>
              </a:defRPr>
            </a:pPr>
            <a:r>
              <a:t>Heart Rate Distribution</a:t>
            </a:r>
          </a:p>
        </p:txBody>
      </p:sp>
      <p:sp>
        <p:nvSpPr>
          <p:cNvPr id="9" name="TextBox 8"/>
          <p:cNvSpPr txBox="1"/>
          <p:nvPr/>
        </p:nvSpPr>
        <p:spPr>
          <a:xfrm>
            <a:off x="731520" y="5779008"/>
            <a:ext cx="10789920" cy="411480"/>
          </a:xfrm>
          <a:prstGeom prst="rect">
            <a:avLst/>
          </a:prstGeom>
          <a:noFill/>
        </p:spPr>
        <p:txBody>
          <a:bodyPr wrap="square">
            <a:spAutoFit/>
          </a:bodyPr>
          <a:lstStyle/>
          <a:p>
            <a:pPr>
              <a:defRPr sz="1400" b="1">
                <a:solidFill>
                  <a:srgbClr val="3C3C3C"/>
                </a:solidFill>
              </a:defRPr>
            </a:pPr>
            <a:r>
              <a:t>Key point: the paired notebook graphs show the distribution and comparison pattern from the dataset.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Stress Level and Sleep Quality Relationship</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22</a:t>
            </a:r>
          </a:p>
        </p:txBody>
      </p:sp>
      <p:pic>
        <p:nvPicPr>
          <p:cNvPr id="5" name="Picture 4" descr="fig_cell_24_0.png"/>
          <p:cNvPicPr>
            <a:picLocks noChangeAspect="1"/>
          </p:cNvPicPr>
          <p:nvPr/>
        </p:nvPicPr>
        <p:blipFill>
          <a:blip r:embed="rId2"/>
          <a:stretch>
            <a:fillRect/>
          </a:stretch>
        </p:blipFill>
        <p:spPr>
          <a:xfrm>
            <a:off x="548640" y="1126260"/>
            <a:ext cx="5303520" cy="3599639"/>
          </a:xfrm>
          <a:prstGeom prst="rect">
            <a:avLst/>
          </a:prstGeom>
        </p:spPr>
      </p:pic>
      <p:sp>
        <p:nvSpPr>
          <p:cNvPr id="6" name="TextBox 5"/>
          <p:cNvSpPr txBox="1"/>
          <p:nvPr/>
        </p:nvSpPr>
        <p:spPr>
          <a:xfrm>
            <a:off x="548640" y="4892040"/>
            <a:ext cx="5303520" cy="274320"/>
          </a:xfrm>
          <a:prstGeom prst="rect">
            <a:avLst/>
          </a:prstGeom>
          <a:noFill/>
        </p:spPr>
        <p:txBody>
          <a:bodyPr wrap="square">
            <a:spAutoFit/>
          </a:bodyPr>
          <a:lstStyle/>
          <a:p>
            <a:pPr>
              <a:defRPr sz="1200" b="1">
                <a:solidFill>
                  <a:srgbClr val="1F4E79"/>
                </a:solidFill>
              </a:defRPr>
            </a:pPr>
            <a:r>
              <a:t>Average Quality of Sleep by Stress Level</a:t>
            </a:r>
          </a:p>
        </p:txBody>
      </p:sp>
      <p:pic>
        <p:nvPicPr>
          <p:cNvPr id="7" name="Picture 6" descr="fig_cell_25_0.png"/>
          <p:cNvPicPr>
            <a:picLocks noChangeAspect="1"/>
          </p:cNvPicPr>
          <p:nvPr/>
        </p:nvPicPr>
        <p:blipFill>
          <a:blip r:embed="rId3"/>
          <a:stretch>
            <a:fillRect/>
          </a:stretch>
        </p:blipFill>
        <p:spPr>
          <a:xfrm>
            <a:off x="6217920" y="1091750"/>
            <a:ext cx="5303520" cy="3668659"/>
          </a:xfrm>
          <a:prstGeom prst="rect">
            <a:avLst/>
          </a:prstGeom>
        </p:spPr>
      </p:pic>
      <p:sp>
        <p:nvSpPr>
          <p:cNvPr id="8" name="TextBox 7"/>
          <p:cNvSpPr txBox="1"/>
          <p:nvPr/>
        </p:nvSpPr>
        <p:spPr>
          <a:xfrm>
            <a:off x="6217920" y="4892040"/>
            <a:ext cx="5303520" cy="274320"/>
          </a:xfrm>
          <a:prstGeom prst="rect">
            <a:avLst/>
          </a:prstGeom>
          <a:noFill/>
        </p:spPr>
        <p:txBody>
          <a:bodyPr wrap="square">
            <a:spAutoFit/>
          </a:bodyPr>
          <a:lstStyle/>
          <a:p>
            <a:pPr>
              <a:defRPr sz="1200" b="1">
                <a:solidFill>
                  <a:srgbClr val="1F4E79"/>
                </a:solidFill>
              </a:defRPr>
            </a:pPr>
            <a:r>
              <a:t>Stress Level vs Quality of Sleep</a:t>
            </a:r>
          </a:p>
        </p:txBody>
      </p:sp>
      <p:sp>
        <p:nvSpPr>
          <p:cNvPr id="9" name="TextBox 8"/>
          <p:cNvSpPr txBox="1"/>
          <p:nvPr/>
        </p:nvSpPr>
        <p:spPr>
          <a:xfrm>
            <a:off x="731520" y="5779008"/>
            <a:ext cx="10789920" cy="411480"/>
          </a:xfrm>
          <a:prstGeom prst="rect">
            <a:avLst/>
          </a:prstGeom>
          <a:noFill/>
        </p:spPr>
        <p:txBody>
          <a:bodyPr wrap="square">
            <a:spAutoFit/>
          </a:bodyPr>
          <a:lstStyle/>
          <a:p>
            <a:pPr>
              <a:defRPr sz="1400" b="1">
                <a:solidFill>
                  <a:srgbClr val="3C3C3C"/>
                </a:solidFill>
              </a:defRPr>
            </a:pPr>
            <a:r>
              <a:t>Key point: higher stress level is associated with lower average sleep quality.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Main Findings</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23</a:t>
            </a:r>
          </a:p>
        </p:txBody>
      </p:sp>
      <p:sp>
        <p:nvSpPr>
          <p:cNvPr id="5" name="TextBox 4"/>
          <p:cNvSpPr txBox="1"/>
          <p:nvPr/>
        </p:nvSpPr>
        <p:spPr>
          <a:xfrm>
            <a:off x="822960" y="960120"/>
            <a:ext cx="10789920" cy="4480560"/>
          </a:xfrm>
          <a:prstGeom prst="rect">
            <a:avLst/>
          </a:prstGeom>
          <a:noFill/>
        </p:spPr>
        <p:txBody>
          <a:bodyPr wrap="square">
            <a:spAutoFit/>
          </a:bodyPr>
          <a:lstStyle/>
          <a:p>
            <a:pPr>
              <a:defRPr sz="2000">
                <a:solidFill>
                  <a:srgbClr val="232323"/>
                </a:solidFill>
              </a:defRPr>
            </a:pPr>
            <a:r>
              <a:t>Higher stress level is strongly linked with lower sleep duration and lower quality of sleep.</a:t>
            </a:r>
          </a:p>
          <a:p>
            <a:pPr>
              <a:defRPr sz="2000">
                <a:solidFill>
                  <a:srgbClr val="232323"/>
                </a:solidFill>
              </a:defRPr>
            </a:pPr>
            <a:r>
              <a:t>Sleep duration and quality of sleep show a strong positive relationship.</a:t>
            </a:r>
          </a:p>
          <a:p>
            <a:pPr>
              <a:defRPr sz="2000">
                <a:solidFill>
                  <a:srgbClr val="232323"/>
                </a:solidFill>
              </a:defRPr>
            </a:pPr>
            <a:r>
              <a:t>Overweight records contain a high number of Insomnia and Sleep Apnea cases.</a:t>
            </a:r>
          </a:p>
          <a:p>
            <a:pPr>
              <a:defRPr sz="2000">
                <a:solidFill>
                  <a:srgbClr val="232323"/>
                </a:solidFill>
              </a:defRPr>
            </a:pPr>
            <a:r>
              <a:t>Sleep Apnea records are more frequent among older records and show higher average heart rate.</a:t>
            </a:r>
          </a:p>
          <a:p>
            <a:pPr>
              <a:defRPr sz="2000">
                <a:solidFill>
                  <a:srgbClr val="232323"/>
                </a:solidFill>
              </a:defRPr>
            </a:pPr>
            <a:r>
              <a:t>Occupation and gender show visible differences in recorded disorder patterns.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91440"/>
            <a:ext cx="11430000" cy="365760"/>
          </a:xfrm>
          <a:prstGeom prst="rect">
            <a:avLst/>
          </a:prstGeom>
          <a:noFill/>
        </p:spPr>
        <p:txBody>
          <a:bodyPr wrap="none">
            <a:spAutoFit/>
          </a:bodyPr>
          <a:lstStyle/>
          <a:p>
            <a:pPr>
              <a:defRPr sz="1800" b="1">
                <a:solidFill>
                  <a:srgbClr val="FFFFFF"/>
                </a:solidFill>
              </a:defRPr>
            </a:pPr>
            <a:r>
              <a:t>Conclusion</a:t>
            </a:r>
          </a:p>
        </p:txBody>
      </p:sp>
      <p:sp>
        <p:nvSpPr>
          <p:cNvPr id="4" name="TextBox 3"/>
          <p:cNvSpPr txBox="1"/>
          <p:nvPr/>
        </p:nvSpPr>
        <p:spPr>
          <a:xfrm>
            <a:off x="320040" y="6565392"/>
            <a:ext cx="11521440" cy="201168"/>
          </a:xfrm>
          <a:prstGeom prst="rect">
            <a:avLst/>
          </a:prstGeom>
          <a:noFill/>
        </p:spPr>
        <p:txBody>
          <a:bodyPr wrap="none">
            <a:spAutoFit/>
          </a:bodyPr>
          <a:lstStyle/>
          <a:p>
            <a:pPr algn="r">
              <a:defRPr sz="800">
                <a:solidFill>
                  <a:srgbClr val="646464"/>
                </a:solidFill>
              </a:defRPr>
            </a:pPr>
            <a:r>
              <a:t>Sleep Health and Lifestyle Dataset Analysis | 24</a:t>
            </a:r>
          </a:p>
        </p:txBody>
      </p:sp>
      <p:sp>
        <p:nvSpPr>
          <p:cNvPr id="5" name="TextBox 4"/>
          <p:cNvSpPr txBox="1"/>
          <p:nvPr/>
        </p:nvSpPr>
        <p:spPr>
          <a:xfrm>
            <a:off x="822960" y="1097280"/>
            <a:ext cx="10515600" cy="2057400"/>
          </a:xfrm>
          <a:prstGeom prst="rect">
            <a:avLst/>
          </a:prstGeom>
          <a:noFill/>
        </p:spPr>
        <p:txBody>
          <a:bodyPr wrap="square">
            <a:spAutoFit/>
          </a:bodyPr>
          <a:lstStyle/>
          <a:p>
            <a:pPr>
              <a:defRPr sz="2100" b="0">
                <a:solidFill>
                  <a:srgbClr val="282828"/>
                </a:solidFill>
              </a:defRPr>
            </a:pPr>
            <a:r>
              <a:t>The analysis shows that sleep health depends on multiple lifestyle and health factors. Stress level is the most important visible factor because it decreases sleep duration and sleep quality. BMI category, occupation, gender, blood pressure, age, heart rate, physical activity, and daily steps also show meaningful patterns with sleep disorder categories in the dataset.</a:t>
            </a:r>
          </a:p>
        </p:txBody>
      </p:sp>
      <p:sp>
        <p:nvSpPr>
          <p:cNvPr id="6" name="TextBox 5"/>
          <p:cNvSpPr txBox="1"/>
          <p:nvPr/>
        </p:nvSpPr>
        <p:spPr>
          <a:xfrm>
            <a:off x="868680" y="3749039"/>
            <a:ext cx="10058400" cy="365760"/>
          </a:xfrm>
          <a:prstGeom prst="rect">
            <a:avLst/>
          </a:prstGeom>
          <a:noFill/>
        </p:spPr>
        <p:txBody>
          <a:bodyPr wrap="square">
            <a:spAutoFit/>
          </a:bodyPr>
          <a:lstStyle/>
          <a:p>
            <a:pPr>
              <a:defRPr sz="2200" b="1">
                <a:solidFill>
                  <a:srgbClr val="1F4E79"/>
                </a:solidFill>
              </a:defRPr>
            </a:pPr>
            <a:r>
              <a:t>Final Result</a:t>
            </a:r>
          </a:p>
        </p:txBody>
      </p:sp>
      <p:sp>
        <p:nvSpPr>
          <p:cNvPr id="7" name="TextBox 6"/>
          <p:cNvSpPr txBox="1"/>
          <p:nvPr/>
        </p:nvSpPr>
        <p:spPr>
          <a:xfrm>
            <a:off x="868680" y="4251960"/>
            <a:ext cx="10424160" cy="731520"/>
          </a:xfrm>
          <a:prstGeom prst="rect">
            <a:avLst/>
          </a:prstGeom>
          <a:noFill/>
        </p:spPr>
        <p:txBody>
          <a:bodyPr wrap="square">
            <a:spAutoFit/>
          </a:bodyPr>
          <a:lstStyle/>
          <a:p>
            <a:pPr>
              <a:defRPr sz="2400" b="1">
                <a:solidFill>
                  <a:srgbClr val="1F4E79"/>
                </a:solidFill>
              </a:defRPr>
            </a:pPr>
            <a:r>
              <a:t>Better sleep quality is associated with lower stress, proper sleep duration, and better lifestyle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TotalTime>
  <Words>1144</Words>
  <Application>Microsoft Office PowerPoint</Application>
  <PresentationFormat>Widescreen</PresentationFormat>
  <Paragraphs>120</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Pritam Manik</cp:lastModifiedBy>
  <cp:revision>4</cp:revision>
  <dcterms:created xsi:type="dcterms:W3CDTF">2013-01-27T09:14:16Z</dcterms:created>
  <dcterms:modified xsi:type="dcterms:W3CDTF">2026-06-30T09:31:41Z</dcterms:modified>
  <cp:category/>
</cp:coreProperties>
</file>